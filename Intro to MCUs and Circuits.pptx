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4"/>
    <p:sldMasterId id="2147483709" r:id="rId5"/>
    <p:sldMasterId id="2147483710" r:id="rId6"/>
    <p:sldMasterId id="2147483711" r:id="rId7"/>
    <p:sldMasterId id="2147483712" r:id="rId8"/>
  </p:sldMasterIdLst>
  <p:notesMasterIdLst>
    <p:notesMasterId r:id="rId16"/>
  </p:notesMasterIdLst>
  <p:sldIdLst>
    <p:sldId id="256" r:id="rId9"/>
    <p:sldId id="266" r:id="rId10"/>
    <p:sldId id="267" r:id="rId11"/>
    <p:sldId id="268" r:id="rId12"/>
    <p:sldId id="263" r:id="rId13"/>
    <p:sldId id="265" r:id="rId14"/>
    <p:sldId id="262" r:id="rId15"/>
  </p:sldIdLst>
  <p:sldSz cx="12192000" cy="6858000"/>
  <p:notesSz cx="6858000" cy="9144000"/>
  <p:embeddedFontLst>
    <p:embeddedFont>
      <p:font typeface="Barlow Condensed" panose="00000506000000000000" pitchFamily="2" charset="0"/>
      <p:regular r:id="rId17"/>
      <p:bold r:id="rId18"/>
      <p:italic r:id="rId19"/>
      <p:boldItalic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Verdana" panose="020B060403050404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7CDB2E-88FB-D3C4-065D-FAA6F5714478}" name="Reeta Yu" initials="RY" userId="S::r78yu@uwaterloo.ca::1b2172c0-a5a7-4a4a-a5c9-224ad98132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D2B84-CD22-5203-47A4-263265BB0229}" v="108" dt="2026-05-25T14:25:02.089"/>
    <p1510:client id="{2CB97920-D3D8-4A56-73E7-BB6F8BF37093}" v="14" dt="2026-05-26T21:36:54.170"/>
    <p1510:client id="{3194E865-8133-91BE-5CD6-C111D8221B8A}" v="2" dt="2026-05-25T14:48:34.403"/>
    <p1510:client id="{B181531B-0776-D00D-56AD-11F9154A263C}" v="108" dt="2026-05-25T21:44:46.861"/>
    <p1510:client id="{B77E263D-EAA6-9AFE-B5C0-19484B822FE6}" v="1" dt="2026-05-25T15:16:10.071"/>
    <p1510:client id="{FC5CBEEA-8506-0825-DF07-C13305323B65}" v="14" dt="2026-05-26T19:32:01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BBA1D51D-A484-8A66-DBBC-ED9D66AC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>
            <a:extLst>
              <a:ext uri="{FF2B5EF4-FFF2-40B4-BE49-F238E27FC236}">
                <a16:creationId xmlns:a16="http://schemas.microsoft.com/office/drawing/2014/main" id="{31653703-6411-5948-788C-DCC8E15C3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:notes">
            <a:extLst>
              <a:ext uri="{FF2B5EF4-FFF2-40B4-BE49-F238E27FC236}">
                <a16:creationId xmlns:a16="http://schemas.microsoft.com/office/drawing/2014/main" id="{0B52D704-E904-5713-0994-F86CF9368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37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4E73F11F-F24F-C4B1-989F-6F8832E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>
            <a:extLst>
              <a:ext uri="{FF2B5EF4-FFF2-40B4-BE49-F238E27FC236}">
                <a16:creationId xmlns:a16="http://schemas.microsoft.com/office/drawing/2014/main" id="{E8CB62C2-3CDF-63EB-46CB-D04E51141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:notes">
            <a:extLst>
              <a:ext uri="{FF2B5EF4-FFF2-40B4-BE49-F238E27FC236}">
                <a16:creationId xmlns:a16="http://schemas.microsoft.com/office/drawing/2014/main" id="{F2A8F247-1D08-F4F7-5F1E-31C7CB06E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6524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A067C1C-2EB1-08D1-B60F-B790BEF1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>
            <a:extLst>
              <a:ext uri="{FF2B5EF4-FFF2-40B4-BE49-F238E27FC236}">
                <a16:creationId xmlns:a16="http://schemas.microsoft.com/office/drawing/2014/main" id="{CB2E094C-E1C3-24AE-F907-B5294081A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:notes">
            <a:extLst>
              <a:ext uri="{FF2B5EF4-FFF2-40B4-BE49-F238E27FC236}">
                <a16:creationId xmlns:a16="http://schemas.microsoft.com/office/drawing/2014/main" id="{1C54DA80-30FC-1D84-7555-55CD3F973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9918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1B51AF3A-1FEA-D0AC-FA1B-1E539639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>
            <a:extLst>
              <a:ext uri="{FF2B5EF4-FFF2-40B4-BE49-F238E27FC236}">
                <a16:creationId xmlns:a16="http://schemas.microsoft.com/office/drawing/2014/main" id="{E4813B47-72D9-59A0-B49D-693BCFEDB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5:notes">
            <a:extLst>
              <a:ext uri="{FF2B5EF4-FFF2-40B4-BE49-F238E27FC236}">
                <a16:creationId xmlns:a16="http://schemas.microsoft.com/office/drawing/2014/main" id="{A067ED59-50CE-D837-F090-B0CCB7C35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389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366B8624-7606-E50B-DE86-A3E1342D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:notes">
            <a:extLst>
              <a:ext uri="{FF2B5EF4-FFF2-40B4-BE49-F238E27FC236}">
                <a16:creationId xmlns:a16="http://schemas.microsoft.com/office/drawing/2014/main" id="{9675A98B-EB8A-8EF4-702C-260E145F8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5:notes">
            <a:extLst>
              <a:ext uri="{FF2B5EF4-FFF2-40B4-BE49-F238E27FC236}">
                <a16:creationId xmlns:a16="http://schemas.microsoft.com/office/drawing/2014/main" id="{8C766450-E202-381F-F042-5295A5FD5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1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3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4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241956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3"/>
          </p:nvPr>
        </p:nvSpPr>
        <p:spPr>
          <a:xfrm>
            <a:off x="423000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5"/>
          </p:nvPr>
        </p:nvSpPr>
        <p:spPr>
          <a:xfrm>
            <a:off x="241956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6"/>
          </p:nvPr>
        </p:nvSpPr>
        <p:spPr>
          <a:xfrm>
            <a:off x="423000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4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3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body" idx="2"/>
          </p:nvPr>
        </p:nvSpPr>
        <p:spPr>
          <a:xfrm>
            <a:off x="241956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3"/>
          </p:nvPr>
        </p:nvSpPr>
        <p:spPr>
          <a:xfrm>
            <a:off x="423000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5"/>
          </p:nvPr>
        </p:nvSpPr>
        <p:spPr>
          <a:xfrm>
            <a:off x="241956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6"/>
          </p:nvPr>
        </p:nvSpPr>
        <p:spPr>
          <a:xfrm>
            <a:off x="423000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5"/>
          <p:cNvSpPr txBox="1">
            <a:spLocks noGrp="1"/>
          </p:cNvSpPr>
          <p:nvPr>
            <p:ph type="body" idx="3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8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body" idx="4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9"/>
          <p:cNvSpPr txBox="1">
            <a:spLocks noGrp="1"/>
          </p:cNvSpPr>
          <p:nvPr>
            <p:ph type="body" idx="2"/>
          </p:nvPr>
        </p:nvSpPr>
        <p:spPr>
          <a:xfrm>
            <a:off x="241956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9"/>
          <p:cNvSpPr txBox="1">
            <a:spLocks noGrp="1"/>
          </p:cNvSpPr>
          <p:nvPr>
            <p:ph type="body" idx="3"/>
          </p:nvPr>
        </p:nvSpPr>
        <p:spPr>
          <a:xfrm>
            <a:off x="423000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9"/>
          <p:cNvSpPr txBox="1">
            <a:spLocks noGrp="1"/>
          </p:cNvSpPr>
          <p:nvPr>
            <p:ph type="body" idx="5"/>
          </p:nvPr>
        </p:nvSpPr>
        <p:spPr>
          <a:xfrm>
            <a:off x="241956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9"/>
          <p:cNvSpPr txBox="1">
            <a:spLocks noGrp="1"/>
          </p:cNvSpPr>
          <p:nvPr>
            <p:ph type="body" idx="6"/>
          </p:nvPr>
        </p:nvSpPr>
        <p:spPr>
          <a:xfrm>
            <a:off x="423000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1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1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body" idx="4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3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5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7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8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9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9"/>
          <p:cNvSpPr txBox="1">
            <a:spLocks noGrp="1"/>
          </p:cNvSpPr>
          <p:nvPr>
            <p:ph type="body" idx="3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50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5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1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2"/>
          <p:cNvSpPr txBox="1">
            <a:spLocks noGrp="1"/>
          </p:cNvSpPr>
          <p:nvPr>
            <p:ph type="body" idx="2"/>
          </p:nvPr>
        </p:nvSpPr>
        <p:spPr>
          <a:xfrm>
            <a:off x="241956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2"/>
          <p:cNvSpPr txBox="1">
            <a:spLocks noGrp="1"/>
          </p:cNvSpPr>
          <p:nvPr>
            <p:ph type="body" idx="3"/>
          </p:nvPr>
        </p:nvSpPr>
        <p:spPr>
          <a:xfrm>
            <a:off x="423000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2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2"/>
          <p:cNvSpPr txBox="1">
            <a:spLocks noGrp="1"/>
          </p:cNvSpPr>
          <p:nvPr>
            <p:ph type="body" idx="5"/>
          </p:nvPr>
        </p:nvSpPr>
        <p:spPr>
          <a:xfrm>
            <a:off x="241956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52"/>
          <p:cNvSpPr txBox="1">
            <a:spLocks noGrp="1"/>
          </p:cNvSpPr>
          <p:nvPr>
            <p:ph type="body" idx="6"/>
          </p:nvPr>
        </p:nvSpPr>
        <p:spPr>
          <a:xfrm>
            <a:off x="423000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55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5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57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9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080" cy="53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6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60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6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6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61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61"/>
          <p:cNvSpPr txBox="1">
            <a:spLocks noGrp="1"/>
          </p:cNvSpPr>
          <p:nvPr>
            <p:ph type="body" idx="3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62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6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63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53539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64"/>
          <p:cNvSpPr txBox="1">
            <a:spLocks noGrp="1"/>
          </p:cNvSpPr>
          <p:nvPr>
            <p:ph type="body" idx="2"/>
          </p:nvPr>
        </p:nvSpPr>
        <p:spPr>
          <a:xfrm>
            <a:off x="3353040" y="160452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6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64"/>
          <p:cNvSpPr txBox="1">
            <a:spLocks noGrp="1"/>
          </p:cNvSpPr>
          <p:nvPr>
            <p:ph type="body" idx="4"/>
          </p:nvPr>
        </p:nvSpPr>
        <p:spPr>
          <a:xfrm>
            <a:off x="3353040" y="3682080"/>
            <a:ext cx="26125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65"/>
          <p:cNvSpPr txBox="1">
            <a:spLocks noGrp="1"/>
          </p:cNvSpPr>
          <p:nvPr>
            <p:ph type="body" idx="2"/>
          </p:nvPr>
        </p:nvSpPr>
        <p:spPr>
          <a:xfrm>
            <a:off x="241956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65"/>
          <p:cNvSpPr txBox="1">
            <a:spLocks noGrp="1"/>
          </p:cNvSpPr>
          <p:nvPr>
            <p:ph type="body" idx="3"/>
          </p:nvPr>
        </p:nvSpPr>
        <p:spPr>
          <a:xfrm>
            <a:off x="4230000" y="160452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65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65"/>
          <p:cNvSpPr txBox="1">
            <a:spLocks noGrp="1"/>
          </p:cNvSpPr>
          <p:nvPr>
            <p:ph type="body" idx="5"/>
          </p:nvPr>
        </p:nvSpPr>
        <p:spPr>
          <a:xfrm>
            <a:off x="241956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65"/>
          <p:cNvSpPr txBox="1">
            <a:spLocks noGrp="1"/>
          </p:cNvSpPr>
          <p:nvPr>
            <p:ph type="body" idx="6"/>
          </p:nvPr>
        </p:nvSpPr>
        <p:spPr>
          <a:xfrm>
            <a:off x="4230000" y="3682080"/>
            <a:ext cx="17236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40" y="5600160"/>
            <a:ext cx="4567320" cy="1254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0" y="0"/>
            <a:ext cx="12191760" cy="397080"/>
            <a:chOff x="0" y="0"/>
            <a:chExt cx="12191760" cy="397080"/>
          </a:xfrm>
        </p:grpSpPr>
        <p:sp>
          <p:nvSpPr>
            <p:cNvPr id="12" name="Google Shape;12;p1"/>
            <p:cNvSpPr/>
            <p:nvPr/>
          </p:nvSpPr>
          <p:spPr>
            <a:xfrm>
              <a:off x="0" y="198720"/>
              <a:ext cx="30819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2A8F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05100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45DCB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609804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65DA4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914508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D0096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0"/>
              <a:ext cx="121917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7"/>
          <p:cNvGrpSpPr/>
          <p:nvPr/>
        </p:nvGrpSpPr>
        <p:grpSpPr>
          <a:xfrm>
            <a:off x="0" y="0"/>
            <a:ext cx="12191760" cy="397080"/>
            <a:chOff x="0" y="0"/>
            <a:chExt cx="12191760" cy="397080"/>
          </a:xfrm>
        </p:grpSpPr>
        <p:sp>
          <p:nvSpPr>
            <p:cNvPr id="123" name="Google Shape;123;p27"/>
            <p:cNvSpPr/>
            <p:nvPr/>
          </p:nvSpPr>
          <p:spPr>
            <a:xfrm>
              <a:off x="0" y="198720"/>
              <a:ext cx="30819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2A8F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305100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45DCB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609804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65DA4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914508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D0096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0" y="0"/>
              <a:ext cx="121917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0"/>
          <p:cNvGrpSpPr/>
          <p:nvPr/>
        </p:nvGrpSpPr>
        <p:grpSpPr>
          <a:xfrm>
            <a:off x="0" y="0"/>
            <a:ext cx="12191760" cy="397080"/>
            <a:chOff x="0" y="0"/>
            <a:chExt cx="12191760" cy="397080"/>
          </a:xfrm>
        </p:grpSpPr>
        <p:sp>
          <p:nvSpPr>
            <p:cNvPr id="180" name="Google Shape;180;p40"/>
            <p:cNvSpPr/>
            <p:nvPr/>
          </p:nvSpPr>
          <p:spPr>
            <a:xfrm>
              <a:off x="0" y="198720"/>
              <a:ext cx="30819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2A8F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305100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45DCB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609804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65DA4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914508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D0096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0" y="0"/>
              <a:ext cx="121917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85" name="Google Shape;185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7" name="Google Shape;187;p4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9" name="Google Shape;189;p40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047760" y="985680"/>
            <a:ext cx="6095880" cy="40748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53"/>
          <p:cNvGrpSpPr/>
          <p:nvPr/>
        </p:nvGrpSpPr>
        <p:grpSpPr>
          <a:xfrm>
            <a:off x="0" y="0"/>
            <a:ext cx="12191760" cy="397080"/>
            <a:chOff x="0" y="0"/>
            <a:chExt cx="12191760" cy="397080"/>
          </a:xfrm>
        </p:grpSpPr>
        <p:sp>
          <p:nvSpPr>
            <p:cNvPr id="241" name="Google Shape;241;p53"/>
            <p:cNvSpPr/>
            <p:nvPr/>
          </p:nvSpPr>
          <p:spPr>
            <a:xfrm>
              <a:off x="0" y="198720"/>
              <a:ext cx="30819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2A8F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2" name="Google Shape;242;p53"/>
            <p:cNvSpPr/>
            <p:nvPr/>
          </p:nvSpPr>
          <p:spPr>
            <a:xfrm>
              <a:off x="305100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45DCB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3" name="Google Shape;243;p53"/>
            <p:cNvSpPr/>
            <p:nvPr/>
          </p:nvSpPr>
          <p:spPr>
            <a:xfrm>
              <a:off x="609804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865DA4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4" name="Google Shape;244;p53"/>
            <p:cNvSpPr/>
            <p:nvPr/>
          </p:nvSpPr>
          <p:spPr>
            <a:xfrm>
              <a:off x="9145080" y="198720"/>
              <a:ext cx="304668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5D0096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5" name="Google Shape;245;p53"/>
            <p:cNvSpPr/>
            <p:nvPr/>
          </p:nvSpPr>
          <p:spPr>
            <a:xfrm>
              <a:off x="0" y="0"/>
              <a:ext cx="12191760" cy="19836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46" name="Google Shape;246;p5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47" name="Google Shape;247;p5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48" name="Google Shape;248;p5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49" name="Google Shape;249;p53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.jp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aSuTAYhEK6ft-aZSbV-zcHXJN2Qgprj/view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6"/>
          <p:cNvSpPr/>
          <p:nvPr/>
        </p:nvSpPr>
        <p:spPr>
          <a:xfrm>
            <a:off x="452880" y="1028880"/>
            <a:ext cx="9605160" cy="147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Design Kickstarter: MCUs and Circuits</a:t>
            </a:r>
            <a:endParaRPr sz="5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6"/>
          <p:cNvSpPr/>
          <p:nvPr/>
        </p:nvSpPr>
        <p:spPr>
          <a:xfrm>
            <a:off x="452880" y="5512338"/>
            <a:ext cx="5486040" cy="316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950" dirty="0">
                <a:solidFill>
                  <a:srgbClr val="7F7F7F"/>
                </a:solidFill>
                <a:latin typeface="Georgia"/>
                <a:ea typeface="Georgia"/>
                <a:cs typeface="Georgia"/>
                <a:sym typeface="Georgia"/>
              </a:rPr>
              <a:t>Anna Chen | CE29</a:t>
            </a:r>
            <a:br>
              <a:rPr lang="en-US" sz="1800" dirty="0">
                <a:ea typeface="Georgia"/>
                <a:sym typeface="Georgia"/>
              </a:rPr>
            </a:br>
            <a:endParaRPr sz="197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6"/>
          <p:cNvSpPr/>
          <p:nvPr/>
        </p:nvSpPr>
        <p:spPr>
          <a:xfrm>
            <a:off x="452880" y="2642400"/>
            <a:ext cx="1182600" cy="377640"/>
          </a:xfrm>
          <a:prstGeom prst="rect">
            <a:avLst/>
          </a:prstGeom>
          <a:solidFill>
            <a:srgbClr val="865DA4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Verdana"/>
                <a:ea typeface="Verdana"/>
                <a:sym typeface="Verdana"/>
              </a:rPr>
              <a:t>5/26/2026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7">
          <a:extLst>
            <a:ext uri="{FF2B5EF4-FFF2-40B4-BE49-F238E27FC236}">
              <a16:creationId xmlns:a16="http://schemas.microsoft.com/office/drawing/2014/main" id="{A4C307F0-04FE-DED4-0C17-E2F57DF8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9;p67">
            <a:extLst>
              <a:ext uri="{FF2B5EF4-FFF2-40B4-BE49-F238E27FC236}">
                <a16:creationId xmlns:a16="http://schemas.microsoft.com/office/drawing/2014/main" id="{465A5B69-5BEB-19B8-D3C2-8A84FA037AB0}"/>
              </a:ext>
            </a:extLst>
          </p:cNvPr>
          <p:cNvSpPr/>
          <p:nvPr/>
        </p:nvSpPr>
        <p:spPr>
          <a:xfrm>
            <a:off x="259920" y="43416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Barlow Condensed"/>
                <a:ea typeface="Barlow Condensed"/>
                <a:cs typeface="Barlow Condensed"/>
                <a:sym typeface="Barlow Condensed"/>
              </a:rPr>
              <a:t>Microcontrollers (MCUs)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0;p67">
            <a:extLst>
              <a:ext uri="{FF2B5EF4-FFF2-40B4-BE49-F238E27FC236}">
                <a16:creationId xmlns:a16="http://schemas.microsoft.com/office/drawing/2014/main" id="{384BDEB3-4075-CE0E-65A7-FFFDBBE9FA30}"/>
              </a:ext>
            </a:extLst>
          </p:cNvPr>
          <p:cNvSpPr/>
          <p:nvPr/>
        </p:nvSpPr>
        <p:spPr>
          <a:xfrm>
            <a:off x="311040" y="1521001"/>
            <a:ext cx="11282862" cy="162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Small, self-contained computer on a single chip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Acts as a brain for </a:t>
            </a:r>
            <a:r>
              <a:rPr lang="en-US" sz="2500" b="1" dirty="0">
                <a:latin typeface="Georgia"/>
                <a:ea typeface="Georgia"/>
                <a:cs typeface="Georgia"/>
                <a:sym typeface="Georgia"/>
              </a:rPr>
              <a:t>embedded systems </a:t>
            </a: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– specialized computer system for a dedicated task in a larger mechanical or electrical device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No operating system -  highly efficient and inexpensive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sz="2500" b="1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11;p67">
            <a:extLst>
              <a:ext uri="{FF2B5EF4-FFF2-40B4-BE49-F238E27FC236}">
                <a16:creationId xmlns:a16="http://schemas.microsoft.com/office/drawing/2014/main" id="{CF360657-C8FA-14E4-7D42-D363A7FE78CB}"/>
              </a:ext>
            </a:extLst>
          </p:cNvPr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12;p67">
            <a:extLst>
              <a:ext uri="{FF2B5EF4-FFF2-40B4-BE49-F238E27FC236}">
                <a16:creationId xmlns:a16="http://schemas.microsoft.com/office/drawing/2014/main" id="{3805DB19-C32B-2F4C-3E28-9D2D97C04FD3}"/>
              </a:ext>
            </a:extLst>
          </p:cNvPr>
          <p:cNvSpPr/>
          <p:nvPr/>
        </p:nvSpPr>
        <p:spPr>
          <a:xfrm>
            <a:off x="5587920" y="6335280"/>
            <a:ext cx="101556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PAGE </a:t>
            </a:r>
            <a:r>
              <a:rPr lang="en-US" sz="1000">
                <a:latin typeface="Verdana"/>
                <a:ea typeface="Verdana"/>
                <a:cs typeface="Verdana"/>
                <a:sym typeface="Verdana"/>
              </a:rPr>
              <a:t>2</a:t>
            </a:r>
            <a:endParaRPr lang="en-US" sz="1000" b="0" i="0" u="none" strike="noStrike" cap="none">
              <a:latin typeface="Verdana"/>
              <a:ea typeface="Verdana"/>
            </a:endParaRPr>
          </a:p>
        </p:txBody>
      </p:sp>
      <p:pic>
        <p:nvPicPr>
          <p:cNvPr id="2" name="Picture 1" descr="Arduino Uno R4 Minima">
            <a:extLst>
              <a:ext uri="{FF2B5EF4-FFF2-40B4-BE49-F238E27FC236}">
                <a16:creationId xmlns:a16="http://schemas.microsoft.com/office/drawing/2014/main" id="{7662DAD6-9580-F671-79C8-0D3068677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20" y="3273928"/>
            <a:ext cx="3711756" cy="2783818"/>
          </a:xfrm>
          <a:prstGeom prst="rect">
            <a:avLst/>
          </a:prstGeom>
        </p:spPr>
      </p:pic>
      <p:pic>
        <p:nvPicPr>
          <p:cNvPr id="4" name="Picture 3" descr="Espressif Official ESP32-C6-DevKitC-1-N8 Development Board : Amazon.ca:  Electronics">
            <a:extLst>
              <a:ext uri="{FF2B5EF4-FFF2-40B4-BE49-F238E27FC236}">
                <a16:creationId xmlns:a16="http://schemas.microsoft.com/office/drawing/2014/main" id="{A30F3315-AF81-3D5E-E1C7-BAEFDAE55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519" y="3145226"/>
            <a:ext cx="1855880" cy="2783819"/>
          </a:xfrm>
          <a:prstGeom prst="rect">
            <a:avLst/>
          </a:prstGeom>
        </p:spPr>
      </p:pic>
      <p:pic>
        <p:nvPicPr>
          <p:cNvPr id="5" name="Picture 4" descr="NUCLEO-F401RE">
            <a:extLst>
              <a:ext uri="{FF2B5EF4-FFF2-40B4-BE49-F238E27FC236}">
                <a16:creationId xmlns:a16="http://schemas.microsoft.com/office/drawing/2014/main" id="{5EB41603-5075-B9C5-AEBD-0C7BFA0B4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607" y="3273928"/>
            <a:ext cx="3779746" cy="2835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6D045A-C4EB-A3B0-9AEF-9682E3703137}"/>
              </a:ext>
            </a:extLst>
          </p:cNvPr>
          <p:cNvSpPr txBox="1"/>
          <p:nvPr/>
        </p:nvSpPr>
        <p:spPr>
          <a:xfrm>
            <a:off x="971360" y="5955926"/>
            <a:ext cx="228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Arduino UNO R4 Minima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73DA4C-45D1-8A29-3E20-FFA8CBCFD616}"/>
              </a:ext>
            </a:extLst>
          </p:cNvPr>
          <p:cNvSpPr txBox="1"/>
          <p:nvPr/>
        </p:nvSpPr>
        <p:spPr>
          <a:xfrm>
            <a:off x="5572383" y="5955925"/>
            <a:ext cx="2062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STM32 Nucleo-F401RE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BB22A-F0BA-9DBD-CF41-4D6C6430E581}"/>
              </a:ext>
            </a:extLst>
          </p:cNvPr>
          <p:cNvSpPr txBox="1"/>
          <p:nvPr/>
        </p:nvSpPr>
        <p:spPr>
          <a:xfrm>
            <a:off x="9378021" y="5955925"/>
            <a:ext cx="2288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Georgia" panose="02040502050405020303" pitchFamily="18" charset="0"/>
              </a:rPr>
              <a:t>ESP32-C6-WROOM-1</a:t>
            </a:r>
          </a:p>
        </p:txBody>
      </p:sp>
    </p:spTree>
    <p:extLst>
      <p:ext uri="{BB962C8B-B14F-4D97-AF65-F5344CB8AC3E}">
        <p14:creationId xmlns:p14="http://schemas.microsoft.com/office/powerpoint/2010/main" val="3342320861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B8F84CC6-B5AD-E9E0-CE3D-DA601F43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9;p67">
            <a:extLst>
              <a:ext uri="{FF2B5EF4-FFF2-40B4-BE49-F238E27FC236}">
                <a16:creationId xmlns:a16="http://schemas.microsoft.com/office/drawing/2014/main" id="{DCE4E150-7B24-2BDB-B695-9F0862DA6C45}"/>
              </a:ext>
            </a:extLst>
          </p:cNvPr>
          <p:cNvSpPr/>
          <p:nvPr/>
        </p:nvSpPr>
        <p:spPr>
          <a:xfrm>
            <a:off x="259920" y="43416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Barlow Condensed"/>
                <a:ea typeface="Barlow Condensed"/>
                <a:cs typeface="Barlow Condensed"/>
                <a:sym typeface="Barlow Condensed"/>
              </a:rPr>
              <a:t>Circuits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0;p67">
            <a:extLst>
              <a:ext uri="{FF2B5EF4-FFF2-40B4-BE49-F238E27FC236}">
                <a16:creationId xmlns:a16="http://schemas.microsoft.com/office/drawing/2014/main" id="{90A57C05-930B-3DD7-5963-279FF2129B70}"/>
              </a:ext>
            </a:extLst>
          </p:cNvPr>
          <p:cNvSpPr/>
          <p:nvPr/>
        </p:nvSpPr>
        <p:spPr>
          <a:xfrm>
            <a:off x="311040" y="1521000"/>
            <a:ext cx="11282862" cy="219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 dirty="0">
                <a:latin typeface="Georgia"/>
                <a:ea typeface="Georgia"/>
                <a:cs typeface="Georgia"/>
                <a:sym typeface="Georgia"/>
              </a:rPr>
              <a:t>Circuit</a:t>
            </a: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 – Closed path that allows electric current to flow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Typically contains a power source (Voltage), conductive pathways (wires) and a load (resistor, lightbulb, etc.)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Circuits can be </a:t>
            </a:r>
            <a:r>
              <a:rPr lang="en-US" sz="2500" b="1" dirty="0">
                <a:latin typeface="Georgia"/>
                <a:ea typeface="Georgia"/>
                <a:cs typeface="Georgia"/>
                <a:sym typeface="Georgia"/>
              </a:rPr>
              <a:t>open</a:t>
            </a: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,</a:t>
            </a:r>
            <a:r>
              <a:rPr lang="en-US" sz="2500" b="1" dirty="0">
                <a:latin typeface="Georgia"/>
                <a:ea typeface="Georgia"/>
                <a:cs typeface="Georgia"/>
                <a:sym typeface="Georgia"/>
              </a:rPr>
              <a:t> closed</a:t>
            </a: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,</a:t>
            </a:r>
            <a:r>
              <a:rPr lang="en-US" sz="2500" b="1" dirty="0">
                <a:latin typeface="Georgia"/>
                <a:ea typeface="Georgia"/>
                <a:cs typeface="Georgia"/>
                <a:sym typeface="Georgia"/>
              </a:rPr>
              <a:t> or short </a:t>
            </a: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(occurs when too much current goes through a wire)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 dirty="0">
              <a:latin typeface="Georgia"/>
              <a:ea typeface="Georgia"/>
              <a:cs typeface="Georgia"/>
              <a:sym typeface="Georgi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sz="2500" b="1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11;p67">
            <a:extLst>
              <a:ext uri="{FF2B5EF4-FFF2-40B4-BE49-F238E27FC236}">
                <a16:creationId xmlns:a16="http://schemas.microsoft.com/office/drawing/2014/main" id="{135B19FC-08A5-3B03-F8E2-FAF89F69EDCC}"/>
              </a:ext>
            </a:extLst>
          </p:cNvPr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lang="en-US" sz="1000" dirty="0"/>
          </a:p>
        </p:txBody>
      </p:sp>
      <p:sp>
        <p:nvSpPr>
          <p:cNvPr id="10" name="Google Shape;312;p67">
            <a:extLst>
              <a:ext uri="{FF2B5EF4-FFF2-40B4-BE49-F238E27FC236}">
                <a16:creationId xmlns:a16="http://schemas.microsoft.com/office/drawing/2014/main" id="{84ECDAC5-4173-37F5-F9EC-7324653BEB7E}"/>
              </a:ext>
            </a:extLst>
          </p:cNvPr>
          <p:cNvSpPr/>
          <p:nvPr/>
        </p:nvSpPr>
        <p:spPr>
          <a:xfrm>
            <a:off x="5587920" y="6335280"/>
            <a:ext cx="101556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PAGE 3</a:t>
            </a:r>
            <a:endParaRPr lang="en-US" sz="1000" b="0" i="0" u="none" strike="noStrike" cap="none" dirty="0">
              <a:latin typeface="Verdana"/>
              <a:ea typeface="Verdana"/>
            </a:endParaRPr>
          </a:p>
        </p:txBody>
      </p:sp>
      <p:pic>
        <p:nvPicPr>
          <p:cNvPr id="9" name="Picture 8" descr="Open Circuit vs Short Circuit: Core Differences between Open and Closed Circuit">
            <a:extLst>
              <a:ext uri="{FF2B5EF4-FFF2-40B4-BE49-F238E27FC236}">
                <a16:creationId xmlns:a16="http://schemas.microsoft.com/office/drawing/2014/main" id="{6285FFEB-FB08-3A3E-DD61-D3A57746C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40" y="3903623"/>
            <a:ext cx="3130837" cy="1974151"/>
          </a:xfrm>
          <a:prstGeom prst="rect">
            <a:avLst/>
          </a:prstGeom>
        </p:spPr>
      </p:pic>
      <p:pic>
        <p:nvPicPr>
          <p:cNvPr id="12" name="Picture 11" descr="Resistors Technology in Circuit Design">
            <a:extLst>
              <a:ext uri="{FF2B5EF4-FFF2-40B4-BE49-F238E27FC236}">
                <a16:creationId xmlns:a16="http://schemas.microsoft.com/office/drawing/2014/main" id="{88A68FB6-7863-E547-269D-B950D8A9E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378" y="4030220"/>
            <a:ext cx="1314668" cy="1306780"/>
          </a:xfrm>
          <a:prstGeom prst="rect">
            <a:avLst/>
          </a:prstGeom>
        </p:spPr>
      </p:pic>
      <p:pic>
        <p:nvPicPr>
          <p:cNvPr id="13" name="Picture 12" descr="DURACELL DC-MN1500BKD - AA Battery Size Consumer Battery | Travers Tool">
            <a:extLst>
              <a:ext uri="{FF2B5EF4-FFF2-40B4-BE49-F238E27FC236}">
                <a16:creationId xmlns:a16="http://schemas.microsoft.com/office/drawing/2014/main" id="{D76AC8FA-DEDE-A195-03B3-55C0116642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076" t="30184" r="44004" b="28940"/>
          <a:stretch>
            <a:fillRect/>
          </a:stretch>
        </p:blipFill>
        <p:spPr>
          <a:xfrm>
            <a:off x="4092127" y="3903623"/>
            <a:ext cx="507496" cy="1728217"/>
          </a:xfrm>
          <a:prstGeom prst="rect">
            <a:avLst/>
          </a:prstGeom>
        </p:spPr>
      </p:pic>
      <p:pic>
        <p:nvPicPr>
          <p:cNvPr id="16" name="Picture 15" descr="Arduino Uno R4 Minima">
            <a:extLst>
              <a:ext uri="{FF2B5EF4-FFF2-40B4-BE49-F238E27FC236}">
                <a16:creationId xmlns:a16="http://schemas.microsoft.com/office/drawing/2014/main" id="{7263D379-918F-6D3B-C3A0-E7FF27072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581" y="4040427"/>
            <a:ext cx="2071800" cy="1553851"/>
          </a:xfrm>
          <a:prstGeom prst="rect">
            <a:avLst/>
          </a:prstGeom>
        </p:spPr>
      </p:pic>
      <p:pic>
        <p:nvPicPr>
          <p:cNvPr id="17" name="Picture 16" descr="MCIGICM 5mm LED Light Diodes, LED Circuit Assorted Kit For Science Project Experiment">
            <a:extLst>
              <a:ext uri="{FF2B5EF4-FFF2-40B4-BE49-F238E27FC236}">
                <a16:creationId xmlns:a16="http://schemas.microsoft.com/office/drawing/2014/main" id="{D92CE9A8-C3D5-5183-75B1-180E40BAA2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4103"/>
          <a:stretch>
            <a:fillRect/>
          </a:stretch>
        </p:blipFill>
        <p:spPr>
          <a:xfrm>
            <a:off x="9102709" y="3953245"/>
            <a:ext cx="2416374" cy="13506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B3AC4C-B6F3-BD0E-FAD8-5B4E41A2F45D}"/>
              </a:ext>
            </a:extLst>
          </p:cNvPr>
          <p:cNvSpPr txBox="1"/>
          <p:nvPr/>
        </p:nvSpPr>
        <p:spPr>
          <a:xfrm>
            <a:off x="4951562" y="5594278"/>
            <a:ext cx="1394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Power Sources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6999B-4CDA-FD9B-D79E-D8EB5975C173}"/>
              </a:ext>
            </a:extLst>
          </p:cNvPr>
          <p:cNvSpPr txBox="1"/>
          <p:nvPr/>
        </p:nvSpPr>
        <p:spPr>
          <a:xfrm>
            <a:off x="9036368" y="5594277"/>
            <a:ext cx="665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Loads</a:t>
            </a:r>
          </a:p>
        </p:txBody>
      </p:sp>
      <p:pic>
        <p:nvPicPr>
          <p:cNvPr id="23" name="Picture 22" descr="A diagram of a button&#10;&#10;AI-generated content may be incorrect.">
            <a:extLst>
              <a:ext uri="{FF2B5EF4-FFF2-40B4-BE49-F238E27FC236}">
                <a16:creationId xmlns:a16="http://schemas.microsoft.com/office/drawing/2014/main" id="{25956B6A-D197-62CE-B44F-DE3D738A9D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329" y="774123"/>
            <a:ext cx="2873375" cy="10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02490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C2E3189A-0283-12DD-FD05-6EE341B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9;p67">
            <a:extLst>
              <a:ext uri="{FF2B5EF4-FFF2-40B4-BE49-F238E27FC236}">
                <a16:creationId xmlns:a16="http://schemas.microsoft.com/office/drawing/2014/main" id="{DFFDC49A-B3F5-599A-FD24-68E5C3D331B3}"/>
              </a:ext>
            </a:extLst>
          </p:cNvPr>
          <p:cNvSpPr/>
          <p:nvPr/>
        </p:nvSpPr>
        <p:spPr>
          <a:xfrm>
            <a:off x="259920" y="43416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Barlow Condensed"/>
                <a:ea typeface="Barlow Condensed"/>
                <a:cs typeface="Barlow Condensed"/>
                <a:sym typeface="Barlow Condensed"/>
              </a:rPr>
              <a:t>Breadboards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0;p67">
            <a:extLst>
              <a:ext uri="{FF2B5EF4-FFF2-40B4-BE49-F238E27FC236}">
                <a16:creationId xmlns:a16="http://schemas.microsoft.com/office/drawing/2014/main" id="{58D0FCB4-8209-90C3-A1F7-285F8F79E14A}"/>
              </a:ext>
            </a:extLst>
          </p:cNvPr>
          <p:cNvSpPr/>
          <p:nvPr/>
        </p:nvSpPr>
        <p:spPr>
          <a:xfrm>
            <a:off x="311040" y="1521000"/>
            <a:ext cx="6292440" cy="283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Used to make circuits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Consists of conductive strips underneath a plastic surface with holes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Insert components to make connections without soldering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latin typeface="Georgia"/>
                <a:ea typeface="Georgia"/>
                <a:cs typeface="Georgia"/>
                <a:sym typeface="Georgia"/>
              </a:rPr>
              <a:t>Power rails: typically used for power (3.3V or GND)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2" indent="-342900">
              <a:buFont typeface="Arial" panose="020B0604020202020204" pitchFamily="34" charset="0"/>
              <a:buChar char="•"/>
            </a:pPr>
            <a:endParaRPr lang="en-US" sz="2500" b="1" dirty="0">
              <a:latin typeface="Georgia"/>
              <a:ea typeface="Georgia"/>
              <a:cs typeface="Georgia"/>
              <a:sym typeface="Georgia"/>
            </a:endParaRPr>
          </a:p>
          <a:p>
            <a:pPr marL="342900" lvl="3" indent="-342900">
              <a:buFont typeface="Arial" panose="020B0604020202020204" pitchFamily="34" charset="0"/>
              <a:buChar char="•"/>
            </a:pPr>
            <a:endParaRPr sz="2500" b="1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11;p67">
            <a:extLst>
              <a:ext uri="{FF2B5EF4-FFF2-40B4-BE49-F238E27FC236}">
                <a16:creationId xmlns:a16="http://schemas.microsoft.com/office/drawing/2014/main" id="{AF7AFE30-420E-8FE7-6A97-6B3D1938D47E}"/>
              </a:ext>
            </a:extLst>
          </p:cNvPr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lang="en-US" sz="1000" dirty="0"/>
          </a:p>
        </p:txBody>
      </p:sp>
      <p:sp>
        <p:nvSpPr>
          <p:cNvPr id="10" name="Google Shape;312;p67">
            <a:extLst>
              <a:ext uri="{FF2B5EF4-FFF2-40B4-BE49-F238E27FC236}">
                <a16:creationId xmlns:a16="http://schemas.microsoft.com/office/drawing/2014/main" id="{8A4EF2F5-224E-0E31-CE07-6AB8033DF7F0}"/>
              </a:ext>
            </a:extLst>
          </p:cNvPr>
          <p:cNvSpPr/>
          <p:nvPr/>
        </p:nvSpPr>
        <p:spPr>
          <a:xfrm>
            <a:off x="5587920" y="6335280"/>
            <a:ext cx="101556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PAGE 4</a:t>
            </a:r>
            <a:endParaRPr lang="en-US" sz="1000" b="0" i="0" u="none" strike="noStrike" cap="none" dirty="0">
              <a:latin typeface="Verdana"/>
              <a:ea typeface="Verdana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BA078436-16E3-19E5-9989-484B82481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776" y="795147"/>
            <a:ext cx="3120136" cy="245574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888D1E-48C2-8010-BB55-6672367DB7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44" y="3250894"/>
            <a:ext cx="2003427" cy="3142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5A629-7CC0-C8E2-02B4-F884AA073380}"/>
              </a:ext>
            </a:extLst>
          </p:cNvPr>
          <p:cNvSpPr txBox="1"/>
          <p:nvPr/>
        </p:nvSpPr>
        <p:spPr>
          <a:xfrm>
            <a:off x="7343902" y="4044767"/>
            <a:ext cx="1723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eorgia" panose="02040502050405020303" pitchFamily="18" charset="0"/>
              </a:rPr>
              <a:t>Example wiring:</a:t>
            </a:r>
          </a:p>
        </p:txBody>
      </p:sp>
      <p:pic>
        <p:nvPicPr>
          <p:cNvPr id="11" name="Picture 10" descr="A diagram of a button&#10;&#10;AI-generated content may be incorrect.">
            <a:extLst>
              <a:ext uri="{FF2B5EF4-FFF2-40B4-BE49-F238E27FC236}">
                <a16:creationId xmlns:a16="http://schemas.microsoft.com/office/drawing/2014/main" id="{151F856A-ACA4-8D18-5F84-DD1FAA544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69" y="4543704"/>
            <a:ext cx="2873375" cy="10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29157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>
          <a:extLst>
            <a:ext uri="{FF2B5EF4-FFF2-40B4-BE49-F238E27FC236}">
              <a16:creationId xmlns:a16="http://schemas.microsoft.com/office/drawing/2014/main" id="{E54E352B-D8F3-BFF2-2CEA-52193D94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0">
            <a:extLst>
              <a:ext uri="{FF2B5EF4-FFF2-40B4-BE49-F238E27FC236}">
                <a16:creationId xmlns:a16="http://schemas.microsoft.com/office/drawing/2014/main" id="{E5023499-8FE4-B4D9-331E-E718F001C1A9}"/>
              </a:ext>
            </a:extLst>
          </p:cNvPr>
          <p:cNvSpPr/>
          <p:nvPr/>
        </p:nvSpPr>
        <p:spPr>
          <a:xfrm>
            <a:off x="259920" y="43416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US" sz="3600" b="1">
                <a:latin typeface="Barlow Condensed"/>
                <a:sym typeface="Barlow Condensed"/>
              </a:rPr>
              <a:t>Arduino Kit Components</a:t>
            </a:r>
            <a:endParaRPr lang="en-US"/>
          </a:p>
        </p:txBody>
      </p:sp>
      <p:sp>
        <p:nvSpPr>
          <p:cNvPr id="337" name="Google Shape;337;p70">
            <a:extLst>
              <a:ext uri="{FF2B5EF4-FFF2-40B4-BE49-F238E27FC236}">
                <a16:creationId xmlns:a16="http://schemas.microsoft.com/office/drawing/2014/main" id="{71A2D2F9-3FCC-8149-978C-EE1A88812642}"/>
              </a:ext>
            </a:extLst>
          </p:cNvPr>
          <p:cNvSpPr/>
          <p:nvPr/>
        </p:nvSpPr>
        <p:spPr>
          <a:xfrm>
            <a:off x="274755" y="1521000"/>
            <a:ext cx="10794930" cy="429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0485">
              <a:buClr>
                <a:srgbClr val="0C0C0C"/>
              </a:buClr>
              <a:buSzPts val="2500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In each Arduino Kit, you should have the following components: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1x Arduino R4 Uno Minima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2x Push Buttons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2x LEDs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1x Breadboard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2x 220Ω Resistor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2x 10kΩ Resistor</a:t>
            </a:r>
          </a:p>
          <a:p>
            <a:pPr marL="413385" indent="-342900">
              <a:buSzPts val="2500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1x Potentiometer</a:t>
            </a:r>
          </a:p>
          <a:p>
            <a:pPr marL="413385" indent="-342900">
              <a:buSzPts val="2500"/>
              <a:buFont typeface="Arial"/>
              <a:buChar char="•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12x Male-Male Jumper Wires</a:t>
            </a:r>
          </a:p>
          <a:p>
            <a:pPr marL="413385" indent="-342900">
              <a:buSzPts val="2500"/>
              <a:buChar char="•"/>
            </a:pPr>
            <a:endParaRPr lang="en-US" sz="2400" dirty="0">
              <a:solidFill>
                <a:srgbClr val="0C0C0C"/>
              </a:solidFill>
              <a:latin typeface="Georgia"/>
            </a:endParaRPr>
          </a:p>
          <a:p>
            <a:pPr marL="70485">
              <a:buSzPts val="2500"/>
            </a:pPr>
            <a:r>
              <a:rPr lang="en-US" sz="2400" dirty="0">
                <a:solidFill>
                  <a:srgbClr val="0C0C0C"/>
                </a:solidFill>
                <a:latin typeface="Georgia"/>
              </a:rPr>
              <a:t>If you are missing anything, please speak to one of our staff</a:t>
            </a:r>
          </a:p>
          <a:p>
            <a:pPr marL="70485">
              <a:buSzPts val="2500"/>
            </a:pPr>
            <a:endParaRPr lang="en-US" sz="2500" dirty="0">
              <a:solidFill>
                <a:srgbClr val="0C0C0C"/>
              </a:solidFill>
              <a:latin typeface="Georgia"/>
            </a:endParaRPr>
          </a:p>
          <a:p>
            <a:pPr marL="70485">
              <a:buSzPts val="2500"/>
            </a:pPr>
            <a:endParaRPr lang="en-US" sz="2500" dirty="0">
              <a:solidFill>
                <a:srgbClr val="0C0C0C"/>
              </a:solidFill>
              <a:latin typeface="Georgia"/>
            </a:endParaRPr>
          </a:p>
        </p:txBody>
      </p:sp>
      <p:sp>
        <p:nvSpPr>
          <p:cNvPr id="338" name="Google Shape;338;p70">
            <a:extLst>
              <a:ext uri="{FF2B5EF4-FFF2-40B4-BE49-F238E27FC236}">
                <a16:creationId xmlns:a16="http://schemas.microsoft.com/office/drawing/2014/main" id="{27C38565-68B6-9DFE-F5A8-B5E1F2C1C516}"/>
              </a:ext>
            </a:extLst>
          </p:cNvPr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lang="en-US" sz="1000" dirty="0"/>
          </a:p>
        </p:txBody>
      </p:sp>
      <p:sp>
        <p:nvSpPr>
          <p:cNvPr id="339" name="Google Shape;339;p70">
            <a:extLst>
              <a:ext uri="{FF2B5EF4-FFF2-40B4-BE49-F238E27FC236}">
                <a16:creationId xmlns:a16="http://schemas.microsoft.com/office/drawing/2014/main" id="{BD18B086-A77B-E052-950E-63533E6C9AC3}"/>
              </a:ext>
            </a:extLst>
          </p:cNvPr>
          <p:cNvSpPr/>
          <p:nvPr/>
        </p:nvSpPr>
        <p:spPr>
          <a:xfrm>
            <a:off x="5587920" y="6335280"/>
            <a:ext cx="101556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PAGE 5</a:t>
            </a:r>
            <a:endParaRPr lang="en-US" sz="1000" b="0" i="0" u="none" strike="noStrike" cap="none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26988799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>
          <a:extLst>
            <a:ext uri="{FF2B5EF4-FFF2-40B4-BE49-F238E27FC236}">
              <a16:creationId xmlns:a16="http://schemas.microsoft.com/office/drawing/2014/main" id="{C80B5485-4956-3A83-81CD-CF723DBC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4;p71">
            <a:extLst>
              <a:ext uri="{FF2B5EF4-FFF2-40B4-BE49-F238E27FC236}">
                <a16:creationId xmlns:a16="http://schemas.microsoft.com/office/drawing/2014/main" id="{47ECF8D9-F350-5669-323C-22F585CF26F1}"/>
              </a:ext>
            </a:extLst>
          </p:cNvPr>
          <p:cNvSpPr/>
          <p:nvPr/>
        </p:nvSpPr>
        <p:spPr>
          <a:xfrm>
            <a:off x="259920" y="43416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Workshop Link 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45;p71">
            <a:extLst>
              <a:ext uri="{FF2B5EF4-FFF2-40B4-BE49-F238E27FC236}">
                <a16:creationId xmlns:a16="http://schemas.microsoft.com/office/drawing/2014/main" id="{CDDEBDC3-C0A7-CCD0-2578-9FF0C8D7AEE3}"/>
              </a:ext>
            </a:extLst>
          </p:cNvPr>
          <p:cNvSpPr/>
          <p:nvPr/>
        </p:nvSpPr>
        <p:spPr>
          <a:xfrm>
            <a:off x="311040" y="1521000"/>
            <a:ext cx="11569320" cy="8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rgbClr val="0C0C0C"/>
                </a:solidFill>
                <a:latin typeface="Georgia"/>
                <a:ea typeface="Georgia"/>
                <a:cs typeface="Georgia"/>
                <a:sym typeface="Georgia"/>
              </a:rPr>
              <a:t>Scan the </a:t>
            </a:r>
            <a:r>
              <a:rPr lang="en-US" sz="2500" b="0" i="0" u="none" strike="noStrike" cap="none" dirty="0">
                <a:solidFill>
                  <a:srgbClr val="0C0C0C"/>
                </a:solidFill>
                <a:latin typeface="Georgia"/>
                <a:ea typeface="Georgia"/>
                <a:cs typeface="Georgia"/>
                <a:sym typeface="Georgia"/>
              </a:rPr>
              <a:t>QR code to </a:t>
            </a:r>
            <a:r>
              <a:rPr lang="en-CA" sz="2500" b="0" i="0" u="none" strike="noStrike" cap="none" dirty="0">
                <a:solidFill>
                  <a:srgbClr val="0C0C0C"/>
                </a:solidFill>
                <a:latin typeface="Georgia"/>
                <a:ea typeface="Georgia"/>
                <a:cs typeface="Georgia"/>
                <a:sym typeface="Georgia"/>
              </a:rPr>
              <a:t>start this workshop</a:t>
            </a:r>
          </a:p>
          <a:p>
            <a:pPr lvl="0"/>
            <a:r>
              <a:rPr lang="en-CA" sz="2500" dirty="0">
                <a:solidFill>
                  <a:srgbClr val="0C0C0C"/>
                </a:solidFill>
                <a:latin typeface="Georgia"/>
                <a:sym typeface="Georgia"/>
              </a:rPr>
              <a:t>Or use this link: </a:t>
            </a:r>
            <a:r>
              <a:rPr lang="en-CA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Georgia"/>
                <a:sym typeface="Georgi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https://drive.google.com/file/d/1CaSuTAYhEK6ft-aZSbV-zcHXJN2Qgprj/view?usp=sharing</a:t>
            </a:r>
            <a:endParaRPr lang="en-CA" sz="1600" dirty="0">
              <a:solidFill>
                <a:schemeClr val="bg2">
                  <a:lumMod val="60000"/>
                  <a:lumOff val="40000"/>
                </a:schemeClr>
              </a:solidFill>
              <a:latin typeface="Georgia"/>
              <a:sym typeface="Georgia"/>
            </a:endParaRPr>
          </a:p>
          <a:p>
            <a:pPr lvl="0"/>
            <a:endParaRPr sz="25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46;p71">
            <a:extLst>
              <a:ext uri="{FF2B5EF4-FFF2-40B4-BE49-F238E27FC236}">
                <a16:creationId xmlns:a16="http://schemas.microsoft.com/office/drawing/2014/main" id="{064357D0-23C8-677E-CE8A-0AF4A145CC80}"/>
              </a:ext>
            </a:extLst>
          </p:cNvPr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lang="en-US" sz="1000" dirty="0"/>
          </a:p>
        </p:txBody>
      </p:sp>
      <p:sp>
        <p:nvSpPr>
          <p:cNvPr id="9" name="Google Shape;347;p71">
            <a:extLst>
              <a:ext uri="{FF2B5EF4-FFF2-40B4-BE49-F238E27FC236}">
                <a16:creationId xmlns:a16="http://schemas.microsoft.com/office/drawing/2014/main" id="{8E891DE0-5762-FB13-95FB-9BB88EE56996}"/>
              </a:ext>
            </a:extLst>
          </p:cNvPr>
          <p:cNvSpPr/>
          <p:nvPr/>
        </p:nvSpPr>
        <p:spPr>
          <a:xfrm>
            <a:off x="5587920" y="6335280"/>
            <a:ext cx="101556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PAGE 6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EA088-3749-7AC1-D193-1EFC265CB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294" y="2607840"/>
            <a:ext cx="3009412" cy="30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22305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2"/>
          <p:cNvSpPr/>
          <p:nvPr/>
        </p:nvSpPr>
        <p:spPr>
          <a:xfrm>
            <a:off x="657360" y="4581360"/>
            <a:ext cx="10877040" cy="15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72"/>
          <p:cNvSpPr/>
          <p:nvPr/>
        </p:nvSpPr>
        <p:spPr>
          <a:xfrm>
            <a:off x="259920" y="6335280"/>
            <a:ext cx="5226120" cy="24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000" dirty="0">
                <a:latin typeface="Verdana"/>
                <a:ea typeface="Verdana"/>
                <a:cs typeface="Verdana"/>
                <a:sym typeface="Verdana"/>
              </a:rPr>
              <a:t>Design Kickstarter: MCUs and Circuits</a:t>
            </a:r>
            <a:endParaRPr lang="en-US" sz="1000" dirty="0"/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6BC8D5262A104C88CBFAC16F6C1029" ma:contentTypeVersion="3" ma:contentTypeDescription="Create a new document." ma:contentTypeScope="" ma:versionID="87255a0eb3ff7db489a317d77f496bdb">
  <xsd:schema xmlns:xsd="http://www.w3.org/2001/XMLSchema" xmlns:xs="http://www.w3.org/2001/XMLSchema" xmlns:p="http://schemas.microsoft.com/office/2006/metadata/properties" xmlns:ns2="a4107bb8-2b32-4db7-ae9d-3470f1ce7671" targetNamespace="http://schemas.microsoft.com/office/2006/metadata/properties" ma:root="true" ma:fieldsID="35d0a97a71769c230614017158d84e1a" ns2:_="">
    <xsd:import namespace="a4107bb8-2b32-4db7-ae9d-3470f1ce7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107bb8-2b32-4db7-ae9d-3470f1ce76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D7659D-C993-4F04-9105-FA9025D9CD24}">
  <ds:schemaRefs>
    <ds:schemaRef ds:uri="5f0a85ad-4c26-4cbd-bedb-381aa63fc72b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02668E7-434D-429D-B89B-B4EE2A4F517A}"/>
</file>

<file path=customXml/itemProps3.xml><?xml version="1.0" encoding="utf-8"?>
<ds:datastoreItem xmlns:ds="http://schemas.openxmlformats.org/officeDocument/2006/customXml" ds:itemID="{FF71F1B6-B8CA-4DA8-90F8-6B8F8E13CF9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287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Barlow Condensed</vt:lpstr>
      <vt:lpstr>Times New Roman</vt:lpstr>
      <vt:lpstr>Verdana</vt:lpstr>
      <vt:lpstr>Arial</vt:lpstr>
      <vt:lpstr>Georgia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Anna Chen</cp:lastModifiedBy>
  <cp:revision>56</cp:revision>
  <dcterms:modified xsi:type="dcterms:W3CDTF">2026-07-28T18:11:38Z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0x010100AE6BC8D5262A104C88CBFAC16F6C1029</vt:lpwstr>
  </property>
  <property fmtid="{D5CDD505-2E9C-101B-9397-08002B2CF9AE}" pid="3" name="MediaServiceImageTags">
    <vt:lpwstr/>
  </property>
</Properties>
</file>